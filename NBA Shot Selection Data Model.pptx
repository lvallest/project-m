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7" r:id="rId6"/>
    <p:sldId id="258" r:id="rId7"/>
    <p:sldId id="264" r:id="rId8"/>
    <p:sldId id="294" r:id="rId9"/>
    <p:sldId id="295" r:id="rId10"/>
    <p:sldId id="296" r:id="rId11"/>
    <p:sldId id="290" r:id="rId12"/>
    <p:sldId id="262" r:id="rId13"/>
    <p:sldId id="291" r:id="rId14"/>
    <p:sldId id="293" r:id="rId15"/>
    <p:sldId id="279" r:id="rId16"/>
    <p:sldId id="268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3204" autoAdjust="0"/>
  </p:normalViewPr>
  <p:slideViewPr>
    <p:cSldViewPr snapToGrid="0">
      <p:cViewPr varScale="1">
        <p:scale>
          <a:sx n="147" d="100"/>
          <a:sy n="147" d="100"/>
        </p:scale>
        <p:origin x="764" y="100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7/25/2024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7/25/2024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118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NBA Shot selection data model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The Data</a:t>
            </a:r>
          </a:p>
          <a:p>
            <a:r>
              <a:rPr lang="en-US" dirty="0"/>
              <a:t>The Process</a:t>
            </a:r>
          </a:p>
          <a:p>
            <a:r>
              <a:rPr lang="en-US" dirty="0"/>
              <a:t>The Discoveries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6594768" cy="5537284"/>
          </a:xfrm>
        </p:spPr>
        <p:txBody>
          <a:bodyPr>
            <a:normAutofit/>
          </a:bodyPr>
          <a:lstStyle/>
          <a:p>
            <a:r>
              <a:rPr lang="en-US" dirty="0"/>
              <a:t>Introduction:</a:t>
            </a:r>
            <a:br>
              <a:rPr lang="en-US" dirty="0"/>
            </a:br>
            <a:r>
              <a:rPr lang="en-US" dirty="0"/>
              <a:t>The NBA is highly competitive, and optimizing shot selection can significantly impact game outcomes.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dirty="0"/>
              <a:t>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3059113"/>
            <a:ext cx="6597650" cy="32956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Collected data from the NBA 2023 season.</a:t>
            </a:r>
          </a:p>
          <a:p>
            <a:r>
              <a:rPr lang="en-US" dirty="0"/>
              <a:t>Features include player position, shot area, shot distance, game quarter, minutes left, etc.</a:t>
            </a:r>
          </a:p>
          <a:p>
            <a:endParaRPr lang="en-US" dirty="0"/>
          </a:p>
          <a:p>
            <a:r>
              <a:rPr lang="en-US" b="1" u="sng" dirty="0"/>
              <a:t>With multiple variables delivered, are we able to predict the shot outcome based on these parameters?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9842-FCCA-0014-17D2-4752DB66D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6"/>
            <a:ext cx="5528217" cy="1024496"/>
          </a:xfrm>
        </p:spPr>
        <p:txBody>
          <a:bodyPr/>
          <a:lstStyle/>
          <a:p>
            <a:r>
              <a:rPr lang="en-US" dirty="0"/>
              <a:t>At face value…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3C8CD-948B-B0B5-736B-357DFAA02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1927" y="1486632"/>
            <a:ext cx="5528217" cy="2029969"/>
          </a:xfrm>
        </p:spPr>
        <p:txBody>
          <a:bodyPr/>
          <a:lstStyle/>
          <a:p>
            <a:r>
              <a:rPr lang="en-US" dirty="0"/>
              <a:t>What are the most common shots successfully sunk?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5CDF4-0EB7-7EF5-EC0F-801765BD3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803" y="2377943"/>
            <a:ext cx="7690253" cy="432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42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3DE59-AB21-98A8-4DBE-070025334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0114" y="272065"/>
            <a:ext cx="7889768" cy="2039341"/>
          </a:xfrm>
        </p:spPr>
        <p:txBody>
          <a:bodyPr/>
          <a:lstStyle/>
          <a:p>
            <a:r>
              <a:rPr lang="en-US" dirty="0"/>
              <a:t>Continued…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FB2050-9AB7-EBF7-25B8-970AE469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F1A715-62DD-91B5-DAE4-574EF83C5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919" y="1121258"/>
            <a:ext cx="7668241" cy="530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7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CAB86-607C-FCD1-DA63-19D346ECA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8498" y="287609"/>
            <a:ext cx="6594768" cy="947426"/>
          </a:xfrm>
        </p:spPr>
        <p:txBody>
          <a:bodyPr/>
          <a:lstStyle/>
          <a:p>
            <a:r>
              <a:rPr lang="en-US" dirty="0"/>
              <a:t>One more!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1F016C-4CF2-9446-7E69-67769228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974" y="1235035"/>
            <a:ext cx="7958025" cy="531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61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5"/>
            <a:ext cx="6594768" cy="3445329"/>
          </a:xfrm>
        </p:spPr>
        <p:txBody>
          <a:bodyPr>
            <a:normAutofit/>
          </a:bodyPr>
          <a:lstStyle/>
          <a:p>
            <a:r>
              <a:rPr lang="en-US" dirty="0"/>
              <a:t>The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9789" y="4130045"/>
            <a:ext cx="6594768" cy="1951523"/>
          </a:xfrm>
        </p:spPr>
        <p:txBody>
          <a:bodyPr/>
          <a:lstStyle/>
          <a:p>
            <a:r>
              <a:rPr lang="en-US" dirty="0"/>
              <a:t>What was done to our dataset?</a:t>
            </a:r>
          </a:p>
          <a:p>
            <a:endParaRPr lang="en-US" dirty="0"/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577" y="404517"/>
            <a:ext cx="7606895" cy="2029967"/>
          </a:xfrm>
        </p:spPr>
        <p:txBody>
          <a:bodyPr/>
          <a:lstStyle/>
          <a:p>
            <a:r>
              <a:rPr lang="en-US" dirty="0"/>
              <a:t>Pre-Processing and Models</a:t>
            </a:r>
          </a:p>
        </p:txBody>
      </p:sp>
      <p:pic>
        <p:nvPicPr>
          <p:cNvPr id="14" name="Picture Placeholder 13" descr="Woman walking in office">
            <a:extLst>
              <a:ext uri="{FF2B5EF4-FFF2-40B4-BE49-F238E27FC236}">
                <a16:creationId xmlns:a16="http://schemas.microsoft.com/office/drawing/2014/main" id="{206549BD-D8AF-D3BE-750E-5F8C50CCB5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5913" r="35913"/>
          <a:stretch/>
        </p:blipFill>
        <p:spPr>
          <a:xfrm>
            <a:off x="1011337" y="9212"/>
            <a:ext cx="2029967" cy="4850544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441910-6501-5C60-C05A-BAFF34C2579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807877" y="1836738"/>
            <a:ext cx="7615274" cy="1372129"/>
          </a:xfrm>
        </p:spPr>
        <p:txBody>
          <a:bodyPr>
            <a:normAutofit/>
          </a:bodyPr>
          <a:lstStyle/>
          <a:p>
            <a:r>
              <a:rPr lang="en-US" dirty="0"/>
              <a:t>Data cleaning: removed duplicates, handled missing values.</a:t>
            </a:r>
          </a:p>
          <a:p>
            <a:r>
              <a:rPr lang="en-US" dirty="0"/>
              <a:t>Feature scaling: standardized numerical features.</a:t>
            </a:r>
          </a:p>
          <a:p>
            <a:r>
              <a:rPr lang="en-US" dirty="0"/>
              <a:t>Encoding: transformed categorical features into numerical values.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CFACEA7-4380-3B3F-C86D-A8407591D77E}"/>
              </a:ext>
            </a:extLst>
          </p:cNvPr>
          <p:cNvSpPr txBox="1">
            <a:spLocks/>
          </p:cNvSpPr>
          <p:nvPr/>
        </p:nvSpPr>
        <p:spPr>
          <a:xfrm>
            <a:off x="3807877" y="3928005"/>
            <a:ext cx="7615274" cy="13721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cleaning: removed duplicates, handled missing values.</a:t>
            </a:r>
          </a:p>
          <a:p>
            <a:r>
              <a:rPr lang="en-US" dirty="0"/>
              <a:t>Feature scaling: standardized numerical features.</a:t>
            </a:r>
          </a:p>
          <a:p>
            <a:r>
              <a:rPr lang="en-US" dirty="0"/>
              <a:t>Encoding: transformed categorical features into numerical values.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1683657"/>
          </a:xfrm>
        </p:spPr>
        <p:txBody>
          <a:bodyPr>
            <a:normAutofit/>
          </a:bodyPr>
          <a:lstStyle/>
          <a:p>
            <a:r>
              <a:rPr lang="en-US" dirty="0"/>
              <a:t>Initial model 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5138" y="2260600"/>
            <a:ext cx="6449785" cy="1029586"/>
          </a:xfrm>
        </p:spPr>
        <p:txBody>
          <a:bodyPr>
            <a:normAutofit fontScale="92500"/>
          </a:bodyPr>
          <a:lstStyle/>
          <a:p>
            <a:r>
              <a:rPr lang="en-US" dirty="0"/>
              <a:t>Looking good but still with some to be desired.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694A07-89C7-3D02-37F2-2847F1D4D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5" y="1104059"/>
            <a:ext cx="4764491" cy="629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ED87F6-F444-8E3E-706F-DD3332E8F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95" y="2932295"/>
            <a:ext cx="5658141" cy="37784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9DF8B4-6AFA-9809-9896-D99728507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1017" y="3102983"/>
            <a:ext cx="4629224" cy="312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>
            <a:normAutofit fontScale="90000"/>
          </a:bodyPr>
          <a:lstStyle/>
          <a:p>
            <a:r>
              <a:rPr lang="en-US" dirty="0"/>
              <a:t>Discoveries: logistic Regression best performing features?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323639-65E1-FDBD-1BE3-374BB39C19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/>
          <a:p>
            <a:r>
              <a:rPr lang="en-US" dirty="0"/>
              <a:t>Restricted Area</a:t>
            </a:r>
          </a:p>
          <a:p>
            <a:r>
              <a:rPr lang="en-US" dirty="0"/>
              <a:t>Center Position</a:t>
            </a:r>
          </a:p>
          <a:p>
            <a:r>
              <a:rPr lang="en-US" dirty="0"/>
              <a:t>Seconds Left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A27D93-7713-F069-0B6C-3B1825EA2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60" y="2451027"/>
            <a:ext cx="6952998" cy="340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1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>
            <a:normAutofit/>
          </a:bodyPr>
          <a:lstStyle/>
          <a:p>
            <a:r>
              <a:rPr lang="en-US" dirty="0"/>
              <a:t>Discoveries: random Forest best performing features?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323639-65E1-FDBD-1BE3-374BB39C19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/>
          <a:p>
            <a:r>
              <a:rPr lang="en-US" dirty="0"/>
              <a:t>Shot Distance</a:t>
            </a:r>
          </a:p>
          <a:p>
            <a:r>
              <a:rPr lang="en-US" dirty="0"/>
              <a:t>Restricted Area</a:t>
            </a:r>
          </a:p>
          <a:p>
            <a:r>
              <a:rPr lang="en-US" dirty="0"/>
              <a:t>Location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3C406E-A390-EA0B-06FA-0B20E4042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943" y="2430915"/>
            <a:ext cx="6730994" cy="345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Some limitations include:</a:t>
            </a:r>
          </a:p>
          <a:p>
            <a:pPr lvl="1"/>
            <a:r>
              <a:rPr lang="en-US" dirty="0"/>
              <a:t>Analysis restricted to the 2023</a:t>
            </a:r>
          </a:p>
          <a:p>
            <a:pPr lvl="1"/>
            <a:r>
              <a:rPr lang="en-US" dirty="0"/>
              <a:t>Limited feature engineering</a:t>
            </a:r>
          </a:p>
          <a:p>
            <a:pPr lvl="1"/>
            <a:r>
              <a:rPr lang="en-US" dirty="0"/>
              <a:t>Variables don’t point strongly enough to a base model</a:t>
            </a:r>
          </a:p>
          <a:p>
            <a:pPr lvl="1"/>
            <a:r>
              <a:rPr lang="en-US" dirty="0"/>
              <a:t>Could benefit from more deep learning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646738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However, what we accomplished is:</a:t>
            </a:r>
          </a:p>
          <a:p>
            <a:pPr lvl="1"/>
            <a:r>
              <a:rPr lang="en-US" dirty="0"/>
              <a:t>Our Random Forest establishes a solid stepping stone for predicting field goals in future models</a:t>
            </a:r>
          </a:p>
          <a:p>
            <a:pPr lvl="1"/>
            <a:r>
              <a:rPr lang="en-US" dirty="0"/>
              <a:t>The strength of certain variables can prove great for players and coaches</a:t>
            </a:r>
          </a:p>
          <a:p>
            <a:pPr lvl="1"/>
            <a:r>
              <a:rPr lang="en-US" dirty="0"/>
              <a:t>Expanding upon the dataset can provide greater opportunity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/>
          </a:bodyPr>
          <a:lstStyle/>
          <a:p>
            <a:r>
              <a:rPr lang="en-US" dirty="0"/>
              <a:t>Luis Vallesteros</a:t>
            </a:r>
          </a:p>
          <a:p>
            <a:r>
              <a:rPr lang="en-US" dirty="0"/>
              <a:t>540-313-0078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{8C7B49D3-82F0-44CE-92B9-F73F8FDC3F0E}tf33968143_win32</Template>
  <TotalTime>247</TotalTime>
  <Words>299</Words>
  <Application>Microsoft Office PowerPoint</Application>
  <PresentationFormat>Widescreen</PresentationFormat>
  <Paragraphs>68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Avenir Next LT Pro</vt:lpstr>
      <vt:lpstr>Calibri</vt:lpstr>
      <vt:lpstr>Custom</vt:lpstr>
      <vt:lpstr>NBA Shot selection data model</vt:lpstr>
      <vt:lpstr>Agenda</vt:lpstr>
      <vt:lpstr>Introduction: The NBA is highly competitive, and optimizing shot selection can significantly impact game outcomes.</vt:lpstr>
      <vt:lpstr>The Dataset</vt:lpstr>
      <vt:lpstr>At face value…</vt:lpstr>
      <vt:lpstr>Continued…</vt:lpstr>
      <vt:lpstr>One more!</vt:lpstr>
      <vt:lpstr>The process</vt:lpstr>
      <vt:lpstr>Pre-Processing and Models</vt:lpstr>
      <vt:lpstr>Initial model findings</vt:lpstr>
      <vt:lpstr>Discoveries: logistic Regression best performing features?</vt:lpstr>
      <vt:lpstr>Discoveries: random Forest best performing features?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Vallesteros</dc:creator>
  <cp:lastModifiedBy>Luis Vallesteros</cp:lastModifiedBy>
  <cp:revision>3</cp:revision>
  <dcterms:created xsi:type="dcterms:W3CDTF">2024-07-26T00:02:16Z</dcterms:created>
  <dcterms:modified xsi:type="dcterms:W3CDTF">2024-07-26T04:10:07Z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